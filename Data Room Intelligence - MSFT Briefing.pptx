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4" y="5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925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[Open ~45s | set the frame]</a:t>
            </a:r>
          </a:p>
          <a:p>
            <a:r>
              <a:t>Welcome, and thanks for making time. What we want to explore today is a</a:t>
            </a:r>
          </a:p>
          <a:p>
            <a:r>
              <a:t>collaboration: building a Data Room Intelligence System for upstream oil &amp; gas M&amp;A.</a:t>
            </a:r>
          </a:p>
          <a:p>
            <a:endParaRPr/>
          </a:p>
          <a:p>
            <a:r>
              <a:t>The hook: every acquisition we evaluate shows up as a folder of wildly different</a:t>
            </a:r>
          </a:p>
          <a:p>
            <a:r>
              <a:t>files — maps, spreadsheets, PDFs — and today a human stitches them together by</a:t>
            </a:r>
          </a:p>
          <a:p>
            <a:r>
              <a:t>hand. The ask, in one line, is right on the slide: design a system that ingests</a:t>
            </a:r>
          </a:p>
          <a:p>
            <a:r>
              <a:t>these formats and auto-generates the consolidated insight a deal team needs.</a:t>
            </a:r>
          </a:p>
          <a:p>
            <a:endParaRPr/>
          </a:p>
          <a:p>
            <a:r>
              <a:t>One ground rule: everything you'll see runs on a FULLY SYNTHETIC sample room, so we</a:t>
            </a:r>
          </a:p>
          <a:p>
            <a:r>
              <a:t>can go deep on the formats and requirements without exposing any real deal data.</a:t>
            </a:r>
          </a:p>
          <a:p>
            <a:endParaRPr/>
          </a:p>
          <a:p>
            <a:r>
              <a:t>[Transition] Let me frame the business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[~60s | the problem &amp; the prize]</a:t>
            </a:r>
          </a:p>
          <a:p>
            <a:r>
              <a:t>Here's the context. Our BD team evaluates acquisition targets by reviewing a</a:t>
            </a:r>
          </a:p>
          <a:p>
            <a:r>
              <a:t>seller's data room. The PAIN: dozens of files, every deal laid out differently,</a:t>
            </a:r>
          </a:p>
          <a:p>
            <a:r>
              <a:t>analysts burning days in Excel just to answer a handful of standard questions.</a:t>
            </a:r>
          </a:p>
          <a:p>
            <a:endParaRPr/>
          </a:p>
          <a:p>
            <a:r>
              <a:t>The OPPORTUNITY: an agent-driven system that parses every format, reconciles them</a:t>
            </a:r>
          </a:p>
          <a:p>
            <a:r>
              <a:t>into one model, and generates the insight report in minutes — repeatably, for</a:t>
            </a:r>
          </a:p>
          <a:p>
            <a:r>
              <a:t>every incoming deal.</a:t>
            </a:r>
          </a:p>
          <a:p>
            <a:endParaRPr/>
          </a:p>
          <a:p>
            <a:r>
              <a:t>On the right is the target workflow — ingest, normalize, reconcile, analyze,</a:t>
            </a:r>
          </a:p>
          <a:p>
            <a:r>
              <a:t>report, deliver. That six-step loop is exactly what we want to automate.</a:t>
            </a:r>
          </a:p>
          <a:p>
            <a:endParaRPr/>
          </a:p>
          <a:p>
            <a:r>
              <a:t>And again: this whole pack uses one synthetic "Lone Star Basin" asset so we can</a:t>
            </a:r>
          </a:p>
          <a:p>
            <a:r>
              <a:t>share formats safely.</a:t>
            </a:r>
          </a:p>
          <a:p>
            <a:endParaRPr/>
          </a:p>
          <a:p>
            <a:r>
              <a:t>[Transition] So what's actually inside one of these rooms?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[~45s | scale the picture]</a:t>
            </a:r>
          </a:p>
          <a:p>
            <a:r>
              <a:t>This is the shape of a single asset. Walk the cards: roughly ninety drilling units,</a:t>
            </a:r>
          </a:p>
          <a:p>
            <a:r>
              <a:t>hundreds of economic locations, producing wells, tens of thousands of gross acres —</a:t>
            </a:r>
          </a:p>
          <a:p>
            <a:r>
              <a:t>with working interest and net revenue interest in the 30-to-50% range.</a:t>
            </a:r>
          </a:p>
          <a:p>
            <a:endParaRPr/>
          </a:p>
          <a:p>
            <a:r>
              <a:t>It spans multiple counties, several geologic benches and landing zones.</a:t>
            </a:r>
          </a:p>
          <a:p>
            <a:endParaRPr/>
          </a:p>
          <a:p>
            <a:r>
              <a:t>The point: this is MEDIUM complexity — real deals get bigger — and all of it has</a:t>
            </a:r>
          </a:p>
          <a:p>
            <a:r>
              <a:t>to be reconciled into one coherent picture.</a:t>
            </a:r>
          </a:p>
          <a:p>
            <a:endParaRPr/>
          </a:p>
          <a:p>
            <a:r>
              <a:t>[Transition] And it arrives in these formats.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[~60s | the raw material]</a:t>
            </a:r>
          </a:p>
          <a:p>
            <a:r>
              <a:t>These are the actual file types in the room. Go top to bottom:</a:t>
            </a:r>
          </a:p>
          <a:p>
            <a:endParaRPr/>
          </a:p>
          <a:p>
            <a:r>
              <a:t>• GIS shapefiles — the maps. Binary, multi-file, with ownership attributes per zone.</a:t>
            </a:r>
          </a:p>
          <a:p>
            <a:r>
              <a:t>• ComboCurve export — per-well economics: a 370-column one-line plus monthly cash flow.</a:t>
            </a:r>
          </a:p>
          <a:p>
            <a:r>
              <a:t>• Unit Details — ownership by unit and by zone, with multi-level headers.</a:t>
            </a:r>
          </a:p>
          <a:p>
            <a:r>
              <a:t>• Basis / pricing — oil, gas and NGL differentials by battery.</a:t>
            </a:r>
          </a:p>
          <a:p>
            <a:r>
              <a:t>• Lease Operating Statements — the monthly actuals: production, revenue, cost.</a:t>
            </a:r>
          </a:p>
          <a:p>
            <a:r>
              <a:t>• PDF decks — narrative and charts.</a:t>
            </a:r>
          </a:p>
          <a:p>
            <a:endParaRPr/>
          </a:p>
          <a:p>
            <a:r>
              <a:t>Six very different SHAPES of data, and the system has to understand all of them.</a:t>
            </a:r>
          </a:p>
          <a:p>
            <a:endParaRPr/>
          </a:p>
          <a:p>
            <a:r>
              <a:t>[Transition] Here's why that's genuinely 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[~60s | why this isn't a simple import job]</a:t>
            </a:r>
          </a:p>
          <a:p>
            <a:r>
              <a:t>Each family brings its own problems — take each column:</a:t>
            </a:r>
          </a:p>
          <a:p>
            <a:endParaRPr/>
          </a:p>
          <a:p>
            <a:r>
              <a:t>• Shapefiles: binary; coordinate systems must align; areas need geodesic math, not</a:t>
            </a:r>
          </a:p>
          <a:p>
            <a:r>
              <a:t>  raw degrees; and you need spatial joins to know which well sits in which unit.</a:t>
            </a:r>
          </a:p>
          <a:p>
            <a:r>
              <a:t>• Excel: merged headers, summary tabs mixed with raw data, the same concept named</a:t>
            </a:r>
          </a:p>
          <a:p>
            <a:r>
              <a:t>  differently file to file, and wide monthly layouts to unpivot.</a:t>
            </a:r>
          </a:p>
          <a:p>
            <a:r>
              <a:t>• PDFs: the insight is locked in text, tables and chart images — no schema, needs</a:t>
            </a:r>
          </a:p>
          <a:p>
            <a:r>
              <a:t>  layout/OCR extraction, and figures must be cross-checked against the workbooks.</a:t>
            </a:r>
          </a:p>
          <a:p>
            <a:endParaRPr/>
          </a:p>
          <a:p>
            <a:r>
              <a:t>The core requirement is at the bottom: ONE normalization layer that maps every</a:t>
            </a:r>
          </a:p>
          <a:p>
            <a:r>
              <a:t>format into a shared, well-keyed model.</a:t>
            </a:r>
          </a:p>
          <a:p>
            <a:endParaRPr/>
          </a:p>
          <a:p>
            <a:r>
              <a:t>[Transition] Before we go further, a quick shared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[~45s | shared vocabulary, part 1]</a:t>
            </a:r>
          </a:p>
          <a:p>
            <a:r>
              <a:t>Two quick glossary slides so the terms land — your engineers will see these</a:t>
            </a:r>
          </a:p>
          <a:p>
            <a:r>
              <a:t>everywhere in the data. This one is ownership and land.</a:t>
            </a:r>
          </a:p>
          <a:p>
            <a:endParaRPr/>
          </a:p>
          <a:p>
            <a:r>
              <a:t>The DSU, the drilling unit, is the fundamental land block. Working interest is what</a:t>
            </a:r>
          </a:p>
          <a:p>
            <a:r>
              <a:t>you own and pay costs on; net revenue interest is your share after royalties, and</a:t>
            </a:r>
          </a:p>
          <a:p>
            <a:r>
              <a:t>it's always lower. Net acres and net locations are the headline metrics — gross</a:t>
            </a:r>
          </a:p>
          <a:p>
            <a:r>
              <a:t>times your interest.</a:t>
            </a:r>
          </a:p>
          <a:p>
            <a:endParaRPr/>
          </a:p>
          <a:p>
            <a:r>
              <a:t>Don't memorize these — just know they're the keys the whole model is built around.</a:t>
            </a:r>
          </a:p>
          <a:p>
            <a:endParaRPr/>
          </a:p>
          <a:p>
            <a:r>
              <a:t>[Transition] And the production and value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[~45s | shared vocabulary, part 2]</a:t>
            </a:r>
          </a:p>
          <a:p>
            <a:r>
              <a:t>The economics vocabulary. PDP is wells already producing — lowest risk. PUDs are</a:t>
            </a:r>
          </a:p>
          <a:p>
            <a:r>
              <a:t>future, undrilled upside. EUR and type curves forecast new wells. PV-10, NPV and IRR</a:t>
            </a:r>
          </a:p>
          <a:p>
            <a:r>
              <a:t>are the valuation metrics. LOS and LOE are the actuals and the operating cost. Basis</a:t>
            </a:r>
          </a:p>
          <a:p>
            <a:r>
              <a:t>differential is the local price gap versus the benchmark.</a:t>
            </a:r>
          </a:p>
          <a:p>
            <a:endParaRPr/>
          </a:p>
          <a:p>
            <a:r>
              <a:t>Together, these are what let us turn barrels in the ground into dollars.</a:t>
            </a:r>
          </a:p>
          <a:p>
            <a:endParaRPr/>
          </a:p>
          <a:p>
            <a:r>
              <a:t>[Transition] So what does the system actually have to produce?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[~50s | the output spec]</a:t>
            </a:r>
          </a:p>
          <a:p>
            <a:r>
              <a:t>This is the output specification — the questions the consolidated report and Q&amp;A</a:t>
            </a:r>
          </a:p>
          <a:p>
            <a:r>
              <a:t>agent must answer on demand, for ANY room. Four buckets:</a:t>
            </a:r>
          </a:p>
          <a:p>
            <a:endParaRPr/>
          </a:p>
          <a:p>
            <a:r>
              <a:t>• Ownership &amp; land — net acreage, net locations, WI and NRI.</a:t>
            </a:r>
          </a:p>
          <a:p>
            <a:r>
              <a:t>• Production &amp; reserves — PDP vs undeveloped, EUR, historical decline.</a:t>
            </a:r>
          </a:p>
          <a:p>
            <a:r>
              <a:t>• Value &amp; economics — PV-10, IRR, LOE per BOE, price realizations.</a:t>
            </a:r>
          </a:p>
          <a:p>
            <a:r>
              <a:t>• Portfolio &amp; risk — ranking locations, concentration, data gaps.</a:t>
            </a:r>
          </a:p>
          <a:p>
            <a:endParaRPr/>
          </a:p>
          <a:p>
            <a:r>
              <a:t>If the system answers these with source citations, it replaces days of manual work.</a:t>
            </a:r>
          </a:p>
          <a:p>
            <a:endParaRPr/>
          </a:p>
          <a:p>
            <a:r>
              <a:t>[Transition] Let me make that concrete with one real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[~60s | one answer, many sources]</a:t>
            </a:r>
          </a:p>
          <a:p>
            <a:r>
              <a:t>Take a real question: what's our net acreage and net locations in the Wolfcamp A,</a:t>
            </a:r>
          </a:p>
          <a:p>
            <a:r>
              <a:t>and what's it worth? NO single file answers it — that's the whole point.</a:t>
            </a:r>
          </a:p>
          <a:p>
            <a:endParaRPr/>
          </a:p>
          <a:p>
            <a:r>
              <a:t>• Unit Details gives gross acres and working interest.</a:t>
            </a:r>
          </a:p>
          <a:p>
            <a:r>
              <a:t>• Shapefiles confirm the area and which wells fall in-unit.</a:t>
            </a:r>
          </a:p>
          <a:p>
            <a:r>
              <a:t>• ComboCurve supplies NPV, IRR and net BOE per location.</a:t>
            </a:r>
          </a:p>
          <a:p>
            <a:r>
              <a:t>• Basis + LOS give price realizations and operating cost for the net cash flow.</a:t>
            </a:r>
          </a:p>
          <a:p>
            <a:endParaRPr/>
          </a:p>
          <a:p>
            <a:r>
              <a:t>The system reconciles all four, keyed by well and unit, and returns net acres, net</a:t>
            </a:r>
          </a:p>
          <a:p>
            <a:r>
              <a:t>locations and PV-10 — plus a supporting table, a map, and source citations.</a:t>
            </a:r>
          </a:p>
          <a:p>
            <a:endParaRPr/>
          </a:p>
          <a:p>
            <a:r>
              <a:t>That reconciliation across sources is the hard, valuable part.</a:t>
            </a:r>
          </a:p>
          <a:p>
            <a:endParaRPr/>
          </a:p>
          <a:p>
            <a:r>
              <a:t>[Transition] So how would we actually build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[~60s | a build blueprint]</a:t>
            </a:r>
          </a:p>
          <a:p>
            <a:r>
              <a:t>A reference architecture — six layers, a starting point your team will refine:</a:t>
            </a:r>
          </a:p>
          <a:p>
            <a:endParaRPr/>
          </a:p>
          <a:p>
            <a:r>
              <a:t>1. Ingestion — watch the room, classify each file, capture as-of dates &amp; versions.</a:t>
            </a:r>
          </a:p>
          <a:p>
            <a:r>
              <a:t>2. Parsing — format-specific extractors: GeoPandas for GIS, header-aware Excel</a:t>
            </a:r>
          </a:p>
          <a:p>
            <a:r>
              <a:t>   readers, layout/OCR plus LLM extraction for PDFs.</a:t>
            </a:r>
          </a:p>
          <a:p>
            <a:r>
              <a:t>3. Canonical model — normalize to Asset, Unit, Well, Ownership, Economics,</a:t>
            </a:r>
          </a:p>
          <a:p>
            <a:r>
              <a:t>   Production, tied together by a well/unit key graph.</a:t>
            </a:r>
          </a:p>
          <a:p>
            <a:r>
              <a:t>4. Reconciliation &amp; QA — cross-check across sources, flag conflicts, attach</a:t>
            </a:r>
          </a:p>
          <a:p>
            <a:r>
              <a:t>   provenance to every value.</a:t>
            </a:r>
          </a:p>
          <a:p>
            <a:r>
              <a:t>5. Analytics &amp; agents — compute the metrics; natural-language Q&amp;A over the model.</a:t>
            </a:r>
          </a:p>
          <a:p>
            <a:r>
              <a:t>6. Report generation — auto-build the memo with citations back to source files.</a:t>
            </a:r>
          </a:p>
          <a:p>
            <a:endParaRPr/>
          </a:p>
          <a:p>
            <a:r>
              <a:t>[Transition] And here's where we want this to go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[~45s | the future state]</a:t>
            </a:r>
          </a:p>
          <a:p>
            <a:r>
              <a:t>Here's where we want this to go. We have an internal evaluation engine called FIMU.</a:t>
            </a:r>
          </a:p>
          <a:p>
            <a:r>
              <a:t>The vision: auto-translate every data-room file straight into clean FIMU inputs, so</a:t>
            </a:r>
          </a:p>
          <a:p>
            <a:r>
              <a:t>the evaluation framework runs the MOMENT a deal lands — no manual prep.</a:t>
            </a:r>
          </a:p>
          <a:p>
            <a:endParaRPr/>
          </a:p>
          <a:p>
            <a:r>
              <a:t>Left side is the hand-off: the normalized model feeds an input adapter, then</a:t>
            </a:r>
          </a:p>
          <a:p>
            <a:r>
              <a:t>validation and unit checks, then an auto-generated FIMU case, then we hit run.</a:t>
            </a:r>
          </a:p>
          <a:p>
            <a:endParaRPr/>
          </a:p>
          <a:p>
            <a:r>
              <a:t>Right side is what it unlocks: one-click evaluation, full auditability, speed to</a:t>
            </a:r>
          </a:p>
          <a:p>
            <a:r>
              <a:t>decision, repeatability across every deal, and a closed loop where FIMU outputs feed</a:t>
            </a:r>
          </a:p>
          <a:p>
            <a:r>
              <a:t>back into the report.</a:t>
            </a:r>
          </a:p>
          <a:p>
            <a:endParaRPr/>
          </a:p>
          <a:p>
            <a:r>
              <a:t>This is how "minutes instead of days" becomes "instant."</a:t>
            </a:r>
          </a:p>
          <a:p>
            <a:endParaRPr/>
          </a:p>
          <a:p>
            <a:r>
              <a:t>[Transition] So here's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[Close ~45s | the ask + next step]</a:t>
            </a:r>
          </a:p>
          <a:p>
            <a:r>
              <a:t>To bring it home — four things we're asking the team to build:</a:t>
            </a:r>
          </a:p>
          <a:p>
            <a:endParaRPr/>
          </a:p>
          <a:p>
            <a:r>
              <a:t>1. The ingestion-to-insight pipeline that turns a raw, multi-format room into one</a:t>
            </a:r>
          </a:p>
          <a:p>
            <a:r>
              <a:t>   reconciled model.</a:t>
            </a:r>
          </a:p>
          <a:p>
            <a:r>
              <a:t>2. Make it answer the standard deal questions — net acreage, locations, WI/NRI,</a:t>
            </a:r>
          </a:p>
          <a:p>
            <a:r>
              <a:t>   reserves, value — with source citations.</a:t>
            </a:r>
          </a:p>
          <a:p>
            <a:r>
              <a:t>3. Generate the consolidated report automatically, and expose a Q&amp;A agent.</a:t>
            </a:r>
          </a:p>
          <a:p>
            <a:r>
              <a:t>4. Prove it on this synthetic room first, then point it at real rooms.</a:t>
            </a:r>
          </a:p>
          <a:p>
            <a:endParaRPr/>
          </a:p>
          <a:p>
            <a:r>
              <a:t>The next step is concrete and low-risk: walk this sample room together, agree the</a:t>
            </a:r>
          </a:p>
          <a:p>
            <a:r>
              <a:t>canonical data model, and scope a pilot that turns it into FIMU inputs and runs the</a:t>
            </a:r>
          </a:p>
          <a:p>
            <a:r>
              <a:t>net-acreage-and-value evaluation end to end.</a:t>
            </a:r>
          </a:p>
          <a:p>
            <a:endParaRPr/>
          </a:p>
          <a:p>
            <a:r>
              <a:t>[Pause — open the floor for questions.]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FB3C8"/>
                </a:solidFill>
                <a:latin typeface="Segoe UI"/>
              </a:rPr>
              <a:t>MICROSOFT × ENERGY M&amp;A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Data Room Intelligence System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>
                <a:solidFill>
                  <a:srgbClr val="BCCCDC"/>
                </a:solidFill>
                <a:latin typeface="Segoe UI"/>
              </a:rPr>
              <a:t>Turning a multi-format upstream M&amp;A data room into consolidated, decision-ready insight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00600"/>
            <a:ext cx="1620316" cy="384048"/>
          </a:xfrm>
          <a:prstGeom prst="round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837176"/>
            <a:ext cx="16203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GIS Shapefiles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97556" y="4800600"/>
            <a:ext cx="2212848" cy="384048"/>
          </a:xfrm>
          <a:prstGeom prst="round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97556" y="4837176"/>
            <a:ext cx="22128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ComboCurve Economics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47564" y="4800600"/>
            <a:ext cx="2114092" cy="384048"/>
          </a:xfrm>
          <a:prstGeom prst="round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47564" y="4837176"/>
            <a:ext cx="21140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Ownership Workbooks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8816" y="4800600"/>
            <a:ext cx="1719072" cy="384048"/>
          </a:xfrm>
          <a:prstGeom prst="round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8816" y="4837176"/>
            <a:ext cx="17190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Pricing / Basis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5048" y="4800600"/>
            <a:ext cx="2805379" cy="384048"/>
          </a:xfrm>
          <a:prstGeom prst="round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55048" y="4837176"/>
            <a:ext cx="280537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Lease Operating Statements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97587" y="4800600"/>
            <a:ext cx="1126540" cy="384048"/>
          </a:xfrm>
          <a:prstGeom prst="round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97587" y="4837176"/>
            <a:ext cx="11265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PDF Decks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Segoe UI"/>
              </a:rPr>
              <a:t>The ask:  </a:t>
            </a:r>
            <a:r>
              <a:rPr sz="1500" b="0">
                <a:solidFill>
                  <a:srgbClr val="FFFFFF"/>
                </a:solidFill>
                <a:latin typeface="Segoe UI"/>
              </a:rPr>
              <a:t>design a system that ingests these file types and auto-generates the consolidated reports &amp; answers a deal team needs.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3C8"/>
                </a:solidFill>
                <a:latin typeface="Segoe UI"/>
              </a:rPr>
              <a:t>THE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What we're bringing to the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C8102E"/>
                </a:solidFill>
                <a:latin typeface="Segoe UI"/>
              </a:rPr>
              <a:t>▪  </a:t>
            </a:r>
            <a:r>
              <a:rPr sz="1450" b="1">
                <a:solidFill>
                  <a:srgbClr val="102A43"/>
                </a:solidFill>
                <a:latin typeface="Segoe UI"/>
              </a:rPr>
              <a:t>The business.  </a:t>
            </a:r>
            <a:r>
              <a:rPr sz="1450">
                <a:solidFill>
                  <a:srgbClr val="102A43"/>
                </a:solidFill>
                <a:latin typeface="Segoe UI"/>
              </a:rPr>
              <a:t>An oil &amp; gas business-development team evaluates acquisition targets by reviewing a seller's "data room" — a folder of files describing an asset's acreage, wells, ownership and economics.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C8102E"/>
                </a:solidFill>
                <a:latin typeface="Segoe UI"/>
              </a:rPr>
              <a:t>▪  </a:t>
            </a:r>
            <a:r>
              <a:rPr sz="1450" b="1">
                <a:solidFill>
                  <a:srgbClr val="102A43"/>
                </a:solidFill>
                <a:latin typeface="Segoe UI"/>
              </a:rPr>
              <a:t>The pain.  </a:t>
            </a:r>
            <a:r>
              <a:rPr sz="1450">
                <a:solidFill>
                  <a:srgbClr val="102A43"/>
                </a:solidFill>
                <a:latin typeface="Segoe UI"/>
              </a:rPr>
              <a:t>Each deal arrives as dozens of files in different formats and layouts. Analysts hand-stitch them in Excel over days just to answer a handful of standard questions.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C8102E"/>
                </a:solidFill>
                <a:latin typeface="Segoe UI"/>
              </a:rPr>
              <a:t>▪  </a:t>
            </a:r>
            <a:r>
              <a:rPr sz="1450" b="1">
                <a:solidFill>
                  <a:srgbClr val="102A43"/>
                </a:solidFill>
                <a:latin typeface="Segoe UI"/>
              </a:rPr>
              <a:t>The opportunity.  </a:t>
            </a:r>
            <a:r>
              <a:rPr sz="1450">
                <a:solidFill>
                  <a:srgbClr val="102A43"/>
                </a:solidFill>
                <a:latin typeface="Segoe UI"/>
              </a:rPr>
              <a:t>An agent-driven intelligence system can parse every format, reconcile them into one model, and generate an insight report — in minutes, repeatably, for every incoming deal.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C8102E"/>
                </a:solidFill>
                <a:latin typeface="Segoe UI"/>
              </a:rPr>
              <a:t>▪  </a:t>
            </a:r>
            <a:r>
              <a:rPr sz="1450" b="1">
                <a:solidFill>
                  <a:srgbClr val="102A43"/>
                </a:solidFill>
                <a:latin typeface="Segoe UI"/>
              </a:rPr>
              <a:t>This pack.  </a:t>
            </a:r>
            <a:r>
              <a:rPr sz="1450">
                <a:solidFill>
                  <a:srgbClr val="102A43"/>
                </a:solidFill>
                <a:latin typeface="Segoe UI"/>
              </a:rPr>
              <a:t>Uses one fully-synthetic sample data room (the "Lone Star Basin" asset) so we can share formats and requirements safely — no real, sensitive deal data is exposed.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371600"/>
            <a:ext cx="4297680" cy="4572000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50876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2A43"/>
                </a:solidFill>
                <a:latin typeface="Segoe UI"/>
              </a:rPr>
              <a:t>THE TARGET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965960"/>
            <a:ext cx="3840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1965960"/>
            <a:ext cx="64008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18120" y="1993392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1  Ingest   </a:t>
            </a:r>
            <a:r>
              <a:rPr sz="1050" b="0">
                <a:solidFill>
                  <a:srgbClr val="486581"/>
                </a:solidFill>
                <a:latin typeface="Segoe UI"/>
              </a:rPr>
              <a:t>Shapefiles · Excel · PDF land in the room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624328"/>
            <a:ext cx="3840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2624328"/>
            <a:ext cx="64008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265176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2  Normalize   </a:t>
            </a:r>
            <a:r>
              <a:rPr sz="1050" b="0">
                <a:solidFill>
                  <a:srgbClr val="486581"/>
                </a:solidFill>
                <a:latin typeface="Segoe UI"/>
              </a:rPr>
              <a:t>Parse each format to a common data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282696"/>
            <a:ext cx="3840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3282696"/>
            <a:ext cx="64008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3310128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3  Reconcile   </a:t>
            </a:r>
            <a:r>
              <a:rPr sz="1050" b="0">
                <a:solidFill>
                  <a:srgbClr val="486581"/>
                </a:solidFill>
                <a:latin typeface="Segoe UI"/>
              </a:rPr>
              <a:t>Tie wells ↔ units ↔ ownership ↔ economics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941064"/>
            <a:ext cx="3840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35240" y="3941064"/>
            <a:ext cx="64008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3968496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4  Analyze   </a:t>
            </a:r>
            <a:r>
              <a:rPr sz="1050" b="0">
                <a:solidFill>
                  <a:srgbClr val="486581"/>
                </a:solidFill>
                <a:latin typeface="Segoe UI"/>
              </a:rPr>
              <a:t>Compute acreage, interests, locations, value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599432"/>
            <a:ext cx="3840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4599432"/>
            <a:ext cx="64008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18120" y="4626864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5  Report   </a:t>
            </a:r>
            <a:r>
              <a:rPr sz="1050" b="0">
                <a:solidFill>
                  <a:srgbClr val="486581"/>
                </a:solidFill>
                <a:latin typeface="Segoe UI"/>
              </a:rPr>
              <a:t>Auto-generate the deal insight memo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5257800"/>
            <a:ext cx="3840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35240" y="5257800"/>
            <a:ext cx="64008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18120" y="5285232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6  Deliver   </a:t>
            </a:r>
            <a:r>
              <a:rPr sz="1050" b="0">
                <a:solidFill>
                  <a:srgbClr val="486581"/>
                </a:solidFill>
                <a:latin typeface="Segoe UI"/>
              </a:rPr>
              <a:t>Send to the BD executive / Q&amp;A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Data Room Intelligence — Microsoft collaboration briefing   ·   </a:t>
            </a:r>
            <a:r>
              <a:rPr sz="800" b="0">
                <a:solidFill>
                  <a:srgbClr val="C8102E"/>
                </a:solidFill>
                <a:latin typeface="Segoe UI"/>
              </a:rPr>
              <a:t>Synthetic illustrative data (not a real asset)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3C8"/>
                </a:solidFill>
                <a:latin typeface="Segoe UI"/>
              </a:rPr>
              <a:t>WHAT TO EXPECT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Sample data room — asset 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743200" cy="1143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73152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3560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A43"/>
                </a:solidFill>
                <a:latin typeface="Segoe UI"/>
              </a:rPr>
              <a:t>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93392"/>
            <a:ext cx="2468880" cy="4572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Drilling units (DSUs)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325880"/>
            <a:ext cx="2743200" cy="1143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01568" y="1325880"/>
            <a:ext cx="73152" cy="1143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84448" y="143560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A43"/>
                </a:solidFill>
                <a:latin typeface="Segoe UI"/>
              </a:rPr>
              <a:t>640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1993392"/>
            <a:ext cx="2468880" cy="4572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Economic locations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325880"/>
            <a:ext cx="2743200" cy="1143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0216" y="1325880"/>
            <a:ext cx="73152" cy="1143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3096" y="143560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A43"/>
                </a:solidFill>
                <a:latin typeface="Segoe UI"/>
              </a:rPr>
              <a:t>320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1993392"/>
            <a:ext cx="2468880" cy="4572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Producing wells (PDP)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98864" y="1325880"/>
            <a:ext cx="2743200" cy="1143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98864" y="1325880"/>
            <a:ext cx="73152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81744" y="143560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A43"/>
                </a:solidFill>
                <a:latin typeface="Segoe UI"/>
              </a:rPr>
              <a:t>70,440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1993392"/>
            <a:ext cx="2468880" cy="4572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Gross acres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651760"/>
            <a:ext cx="2743200" cy="1143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2651760"/>
            <a:ext cx="73152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276148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A43"/>
                </a:solidFill>
                <a:latin typeface="Segoe UI"/>
              </a:rPr>
              <a:t>49%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319272"/>
            <a:ext cx="2468880" cy="4572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Avg working interest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1568" y="2651760"/>
            <a:ext cx="2743200" cy="1143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401568" y="2651760"/>
            <a:ext cx="73152" cy="1143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84448" y="276148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A43"/>
                </a:solidFill>
                <a:latin typeface="Segoe UI"/>
              </a:rPr>
              <a:t>38%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4448" y="3319272"/>
            <a:ext cx="2468880" cy="4572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Avg net revenue interest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0216" y="2651760"/>
            <a:ext cx="2743200" cy="1143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0216" y="2651760"/>
            <a:ext cx="73152" cy="1143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83096" y="276148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A43"/>
                </a:solidFill>
                <a:latin typeface="Segoe UI"/>
              </a:rPr>
              <a:t>75%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3096" y="3319272"/>
            <a:ext cx="2468880" cy="4572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Operated locations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98864" y="2651760"/>
            <a:ext cx="2743200" cy="1143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98864" y="2651760"/>
            <a:ext cx="73152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81744" y="276148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A43"/>
                </a:solidFill>
                <a:latin typeface="Segoe UI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3319272"/>
            <a:ext cx="2468880" cy="4572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Geologic benches / zones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206240"/>
            <a:ext cx="11201400" cy="192024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4343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2A43"/>
                </a:solidFill>
                <a:latin typeface="Segoe UI"/>
              </a:rPr>
              <a:t>GEOGRAPHIC &amp; GEOLOGIC SCOPE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75488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00" b="1">
                <a:solidFill>
                  <a:srgbClr val="102A43"/>
                </a:solidFill>
                <a:latin typeface="Segoe UI"/>
              </a:rPr>
              <a:t>Counties:  </a:t>
            </a:r>
            <a:r>
              <a:rPr sz="1200">
                <a:solidFill>
                  <a:srgbClr val="102A43"/>
                </a:solidFill>
                <a:latin typeface="Segoe UI"/>
              </a:rPr>
              <a:t>AGUILA, AVALON, CIMARRON, CORONADO, MESQUITE, PALOMA  (+2 more)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00" b="1">
                <a:solidFill>
                  <a:srgbClr val="102A43"/>
                </a:solidFill>
                <a:latin typeface="Segoe UI"/>
              </a:rPr>
              <a:t>Dev areas:  </a:t>
            </a:r>
            <a:r>
              <a:rPr sz="1200">
                <a:solidFill>
                  <a:srgbClr val="102A43"/>
                </a:solidFill>
                <a:latin typeface="Segoe UI"/>
              </a:rPr>
              <a:t>AGUILA FLATS, CENTRAL CIMARRON, EAST RED MESA, NORTH CIMARRON, SOUTH CIMARRON, WEST RED MESA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75488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00" b="1">
                <a:solidFill>
                  <a:srgbClr val="102A43"/>
                </a:solidFill>
                <a:latin typeface="Segoe UI"/>
              </a:rPr>
              <a:t>Benches:  </a:t>
            </a:r>
            <a:r>
              <a:rPr sz="1200">
                <a:solidFill>
                  <a:srgbClr val="102A43"/>
                </a:solidFill>
                <a:latin typeface="Segoe UI"/>
              </a:rPr>
              <a:t>USS, MSS, JM, LSS, DEAN, WCA, WCB I, WCB II, WCC, WCD, STR / BND, UP BRNT, LR BRNT, MSSP, WDFD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00" b="1">
                <a:solidFill>
                  <a:srgbClr val="102A43"/>
                </a:solidFill>
                <a:latin typeface="Segoe UI"/>
              </a:rPr>
              <a:t>Landing zones:  </a:t>
            </a:r>
            <a:r>
              <a:rPr sz="1200">
                <a:solidFill>
                  <a:srgbClr val="102A43"/>
                </a:solidFill>
                <a:latin typeface="Segoe UI"/>
              </a:rPr>
              <a:t>DEAN, JO MILL, LWR SPRB SAND, LWR SPRB SHALE, MID SPRB SHALE, UPR SPRB SHALE 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Data Room Intelligence — Microsoft collaboration briefing   ·   </a:t>
            </a:r>
            <a:r>
              <a:rPr sz="800" b="0">
                <a:solidFill>
                  <a:srgbClr val="C8102E"/>
                </a:solidFill>
                <a:latin typeface="Segoe UI"/>
              </a:rPr>
              <a:t>Synthetic illustrative data (not a real asset)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3C8"/>
                </a:solidFill>
                <a:latin typeface="Segoe UI"/>
              </a:rPr>
              <a:t>WHAT TO EXPECT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The files &amp; formats in the room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82296" cy="7498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9903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GIS Shapefiles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27048"/>
            <a:ext cx="2103120" cy="347472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1554480"/>
            <a:ext cx="2103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86581"/>
                </a:solidFill>
                <a:latin typeface="Segoe UI"/>
              </a:rPr>
              <a:t>.shp /.dbf /.prj /.shx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380744"/>
            <a:ext cx="5943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6581"/>
                </a:solidFill>
                <a:latin typeface="Segoe UI"/>
              </a:rPr>
              <a:t>Spatial: unit polygons, leasehold tracts, producing-well laterals — with ownership attributes per zone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82296" cy="7498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2199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ComboCurve export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350008"/>
            <a:ext cx="2103120" cy="347472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2377440"/>
            <a:ext cx="2103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86581"/>
                </a:solidFill>
                <a:latin typeface="Segoe UI"/>
              </a:rPr>
              <a:t>.xlsx (multi-sheet)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203704"/>
            <a:ext cx="5943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6581"/>
                </a:solidFill>
                <a:latin typeface="Segoe UI"/>
              </a:rPr>
              <a:t>Per-well economics one-line (370 cols) + monthly cash-flow forecast; reserves, volumes, pricing, NPV, IRR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7180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2971800"/>
            <a:ext cx="82296" cy="74980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04495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Unit Details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172968"/>
            <a:ext cx="2103120" cy="347472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29000" y="3200400"/>
            <a:ext cx="2103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86581"/>
                </a:solidFill>
                <a:latin typeface="Segoe UI"/>
              </a:rPr>
              <a:t>.xlsx (multi-level header)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026664"/>
            <a:ext cx="5943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6581"/>
                </a:solidFill>
                <a:latin typeface="Segoe UI"/>
              </a:rPr>
              <a:t>Acreage &amp; ownership by unit and by geologic zone: gross/net acres, WI, NRI, ORRI, gross locations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79476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3794760"/>
            <a:ext cx="82296" cy="7498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386791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Basis / Pricing report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3995928"/>
            <a:ext cx="2103120" cy="347472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29000" y="4023360"/>
            <a:ext cx="2103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86581"/>
                </a:solidFill>
                <a:latin typeface="Segoe UI"/>
              </a:rPr>
              <a:t>.xlsx (monthly tabs)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3849624"/>
            <a:ext cx="5943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6581"/>
                </a:solidFill>
                <a:latin typeface="Segoe UI"/>
              </a:rPr>
              <a:t>Oil, gas &amp; NGL price differentials and deducts by battery / central tank battery (CTB)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61772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4617720"/>
            <a:ext cx="82296" cy="7498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469087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Lease Operating Statements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4818888"/>
            <a:ext cx="2103120" cy="347472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29000" y="4846320"/>
            <a:ext cx="2103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86581"/>
                </a:solidFill>
                <a:latin typeface="Segoe UI"/>
              </a:rPr>
              <a:t>.xlsx (wide monthly)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672584"/>
            <a:ext cx="5943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6581"/>
                </a:solidFill>
                <a:latin typeface="Segoe UI"/>
              </a:rPr>
              <a:t>Historical production, revenue, taxes, deductions and line-item LOE by cost code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44068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2920" y="5440680"/>
            <a:ext cx="82296" cy="74980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551383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PDF decks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29000" y="5641848"/>
            <a:ext cx="2103120" cy="347472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29000" y="5669280"/>
            <a:ext cx="2103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86581"/>
                </a:solidFill>
                <a:latin typeface="Segoe UI"/>
              </a:rPr>
              <a:t>.pdf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5495544"/>
            <a:ext cx="5943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6581"/>
                </a:solidFill>
                <a:latin typeface="Segoe UI"/>
              </a:rPr>
              <a:t>Asset overview &amp; development-model summaries — narrative + charts that need OCR / layout parsing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Data Room Intelligence — Microsoft collaboration briefing   ·   </a:t>
            </a:r>
            <a:r>
              <a:rPr sz="800" b="0">
                <a:solidFill>
                  <a:srgbClr val="C8102E"/>
                </a:solidFill>
                <a:latin typeface="Segoe UI"/>
              </a:rPr>
              <a:t>Synthetic illustrative data (not a real asset)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3C8"/>
                </a:solidFill>
                <a:latin typeface="Segoe UI"/>
              </a:rPr>
              <a:t>WHY IT'S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Format challenges the system must handle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657600" cy="466344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657600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26464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Shapefiles (GIS)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Binary multi-file format; geometry + attribute table (.dbf)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Coordinate systems (CRS) must be aligned before spatial joins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Area/length need geodesic math, not raw degrees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Spatial relationships: which wells sit in which unit?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1371600"/>
            <a:ext cx="3657600" cy="466344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59" y="1371600"/>
            <a:ext cx="3657600" cy="5486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59" y="1426464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Excel workbooks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10312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Multi-row / merged headers — no clean single header row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Pivot/summary tabs mixed with raw data tabs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Same concept, different column names across files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Wide monthly layouts (one column per month) to unpivot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0998" y="1371600"/>
            <a:ext cx="3657600" cy="466344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0998" y="1371600"/>
            <a:ext cx="3657600" cy="5486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00998" y="1426464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PDF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8" y="210312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102A43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Insight locked in narrative text, tables &amp; chart images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102A43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No structured schema — needs layout / OCR extraction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102A43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Figures must be cross-checked against the workbooks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102A43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Version &amp; as-of-date drift between documents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172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8102E"/>
                </a:solidFill>
                <a:latin typeface="Segoe UI"/>
              </a:rPr>
              <a:t>Core requirement:  </a:t>
            </a:r>
            <a:r>
              <a:rPr sz="1250" b="0">
                <a:solidFill>
                  <a:srgbClr val="102A43"/>
                </a:solidFill>
                <a:latin typeface="Segoe UI"/>
              </a:rPr>
              <a:t>one normalization layer that maps every format into a shared, well-keyed data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Data Room Intelligence — Microsoft collaboration briefing   ·   </a:t>
            </a:r>
            <a:r>
              <a:rPr sz="800" b="0">
                <a:solidFill>
                  <a:srgbClr val="C8102E"/>
                </a:solidFill>
                <a:latin typeface="Segoe UI"/>
              </a:rPr>
              <a:t>Synthetic illustrative data (not a real asset)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3C8"/>
                </a:solidFill>
                <a:latin typeface="Segoe UI"/>
              </a:rPr>
              <a:t>DOMAIN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Key terms — ownership &amp; land (1 of 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73152" cy="15179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43560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DSU — Drilling / Spacing 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78308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The land block pooled together to drill horizontal wells. The fundamental unit of acreage and ownership accounting; leasehold tracts sit inside DSUs.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73152" cy="15179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43560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Working Interest (WI)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78308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The share of a well/unit you own and pay costs on. 50% WI = you fund half the drilling &amp; operating cost and own half the gross production.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7180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971800"/>
            <a:ext cx="73152" cy="151790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" y="308152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Net Revenue Interest (NRI)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42900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Your share of revenue after royalties. Always ≤ WI. NRI = WI × (1 − royalty burden). This is what actually converts production into your dollars.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7180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2971800"/>
            <a:ext cx="73152" cy="151790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3368" y="308152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ORRI — Overriding Royalty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42900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A revenue interest carved out of the lease with no cost obligation. Adds to total NRI but sits on top of the working interest.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1772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4617720"/>
            <a:ext cx="73152" cy="15179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472744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Net Acres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507492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Gross acres × your working-interest share. 640 gross acres at 50% WI = 320 net acres. The headline land metric in any deal.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61772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4617720"/>
            <a:ext cx="73152" cy="15179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3368" y="472744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Net Locations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507492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Drillable future wells weighted by ownership: Σ (WI × gross locations). Measures how much drilling inventory you actually own.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Data Room Intelligence — Microsoft collaboration briefing   ·   </a:t>
            </a:r>
            <a:r>
              <a:rPr sz="800" b="0">
                <a:solidFill>
                  <a:srgbClr val="C8102E"/>
                </a:solidFill>
                <a:latin typeface="Segoe UI"/>
              </a:rPr>
              <a:t>Synthetic illustrative data (not a real asset)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3C8"/>
                </a:solidFill>
                <a:latin typeface="Segoe UI"/>
              </a:rPr>
              <a:t>DOMAIN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Key terms — production, cost &amp; value (2 of 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73152" cy="15179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43560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PDP — Proved Developed Producing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78308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Wells already online and producing. The lowest-risk reserves category; mapped here as the producing-well laterals.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73152" cy="15179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43560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PUD / Undeveloped Locations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78308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Future wells not yet drilled. Upside inventory — value depends on WI, type curve and capital to drill &amp; complete (D&amp;C).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7180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971800"/>
            <a:ext cx="73152" cy="151790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" y="308152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EUR &amp; Type Curve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42900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EUR = estimated ultimate recovery per well (MBO/MBOE). The type curve is the modeled production-vs-time profile used to forecast new wells.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7180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2971800"/>
            <a:ext cx="73152" cy="151790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3368" y="308152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PV-10 / NPV &amp; IRR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42900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PV-10 = present value of future net cash flow discounted at 10%. IRR = return rate. The core valuation metrics for every location.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1772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4617720"/>
            <a:ext cx="73152" cy="15179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472744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LOS &amp; LOE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507492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Lease Operating Statement = monthly actuals (production, revenue, cost). LOE = lease operating expense, the $/BOE cost to run producing wells.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61772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4617720"/>
            <a:ext cx="73152" cy="15179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3368" y="472744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Basis Differential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507492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Local price gap vs the benchmark (e.g. WTI / Henry Hub) after transport &amp; deducts. Drives realized oil, gas &amp; NGL prices by battery.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Data Room Intelligence — Microsoft collaboration briefing   ·   </a:t>
            </a:r>
            <a:r>
              <a:rPr sz="800" b="0">
                <a:solidFill>
                  <a:srgbClr val="C8102E"/>
                </a:solidFill>
                <a:latin typeface="Segoe UI"/>
              </a:rPr>
              <a:t>Synthetic illustrative data (not a real asset)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3C8"/>
                </a:solidFill>
                <a:latin typeface="Segoe UI"/>
              </a:rPr>
              <a:t>THE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Questions the system must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86581"/>
                </a:solidFill>
                <a:latin typeface="Segoe UI"/>
              </a:rPr>
              <a:t>The consolidated report / Q&amp;A agent should answer, on demand, for any incoming data room: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532120" cy="22402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532120" cy="457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Ownership &amp; 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67128"/>
            <a:ext cx="5074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C8102E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Net &amp; gross acreage — by unit, zone, county, in total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C8102E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Net locations (net drillable wells) by bench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C8102E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Working interest (WI) &amp; net revenue interest (NRI) — avg &amp; by zone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C8102E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Operated vs non-operated split; ORRI burden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532120" cy="22402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600200"/>
            <a:ext cx="5532120" cy="4572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645920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Production &amp; reserves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67128"/>
            <a:ext cx="5074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0E7C86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PDP vs undeveloped well &amp; location counts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0E7C86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Net EUR / remaining reserves (oil, gas, NGL, BOE)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0E7C86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Historical production &amp; decline from the LOS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0E7C86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Type-curve &amp; lateral-length profile by area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50208"/>
            <a:ext cx="5532120" cy="22402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950208"/>
            <a:ext cx="5532120" cy="4572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995928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Value &amp;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17136"/>
            <a:ext cx="5074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102A43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PV-10 / NPV, IRR, payout, breakeven by location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102A43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Net revenue, operating income &amp; cash-flow forecast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102A43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LOE $/BOE and cost structure from the LOS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102A43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Price realizations &amp; basis differentials by battery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950208"/>
            <a:ext cx="5532120" cy="22402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950208"/>
            <a:ext cx="55321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3995928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Portfolio &amp;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17136"/>
            <a:ext cx="5074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2E7D32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Rank / high-grade locations by value &amp; returns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2E7D32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Concentration by operator, county, zone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2E7D32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Data gaps &amp; inconsistencies across sources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2E7D32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Scenario sensitivity to oil &amp; gas price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Data Room Intelligence — Microsoft collaboration briefing   ·   </a:t>
            </a:r>
            <a:r>
              <a:rPr sz="800" b="0">
                <a:solidFill>
                  <a:srgbClr val="C8102E"/>
                </a:solidFill>
                <a:latin typeface="Segoe UI"/>
              </a:rPr>
              <a:t>Synthetic illustrative data (not a real asset)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3C8"/>
                </a:solidFill>
                <a:latin typeface="Segoe UI"/>
              </a:rPr>
              <a:t>THE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Worked example — one answer, many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Segoe UI"/>
              </a:rPr>
              <a:t>Question:  </a:t>
            </a:r>
            <a:r>
              <a:rPr sz="1500" b="1">
                <a:solidFill>
                  <a:srgbClr val="102A43"/>
                </a:solidFill>
                <a:latin typeface="Segoe UI"/>
              </a:rPr>
              <a:t>"What is our net acreage and net location count in the Wolfcamp A, and what's it worth?"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514600" cy="13716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2514600" cy="42062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Unit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Gross acres + WI by
unit for WCA bench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286000"/>
            <a:ext cx="320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627D98"/>
                </a:solidFill>
                <a:latin typeface="Segoe UI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1920240"/>
            <a:ext cx="2514600" cy="13716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10128" y="1920240"/>
            <a:ext cx="2514600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0128" y="1965960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Shapefiles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42316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Unit polygons; confirm
area &amp; well-in-unit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7296" y="2286000"/>
            <a:ext cx="320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627D98"/>
                </a:solidFill>
                <a:latin typeface="Segoe UI"/>
              </a:rPr>
              <a:t>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920240"/>
            <a:ext cx="2514600" cy="13716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17336" y="1920240"/>
            <a:ext cx="2514600" cy="42062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17336" y="1965960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ComboCurve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42316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Per-location WCA
NPV, IRR, net BOE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4504" y="2286000"/>
            <a:ext cx="320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627D98"/>
                </a:solidFill>
                <a:latin typeface="Segoe UI"/>
              </a:rPr>
              <a:t>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24544" y="1920240"/>
            <a:ext cx="2514600" cy="13716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24544" y="1920240"/>
            <a:ext cx="2514600" cy="42062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24544" y="1965960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Basis + LOS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242316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Price realizations &amp;
LOE for net cash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520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Segoe UI"/>
              </a:rPr>
              <a:t>→  System reconciles all four, keyed by well &amp; unit, and returns: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023360"/>
            <a:ext cx="11201400" cy="530352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406908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Net WCA acres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069080"/>
            <a:ext cx="7955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6581"/>
                </a:solidFill>
                <a:latin typeface="Segoe UI"/>
              </a:rPr>
              <a:t>≈ net acres rolled up from WI × gross across WCA units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608576"/>
            <a:ext cx="11201400" cy="530352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4654296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Net WCA locations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654296"/>
            <a:ext cx="7955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6581"/>
                </a:solidFill>
                <a:latin typeface="Segoe UI"/>
              </a:rPr>
              <a:t>Σ (WI × gross locations) for the bench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193792"/>
            <a:ext cx="11201400" cy="530352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5239512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WCA PV-10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5239512"/>
            <a:ext cx="7955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6581"/>
                </a:solidFill>
                <a:latin typeface="Segoe UI"/>
              </a:rPr>
              <a:t>Σ discounted net cash flow for WCA locations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779008"/>
            <a:ext cx="11201400" cy="530352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5824728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Supporting detail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5824728"/>
            <a:ext cx="7955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6581"/>
                </a:solidFill>
                <a:latin typeface="Segoe UI"/>
              </a:rPr>
              <a:t>Unit-level table + map + source citations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Data Room Intelligence — Microsoft collaboration briefing   ·   </a:t>
            </a:r>
            <a:r>
              <a:rPr sz="800" b="0">
                <a:solidFill>
                  <a:srgbClr val="C8102E"/>
                </a:solidFill>
                <a:latin typeface="Segoe UI"/>
              </a:rPr>
              <a:t>Synthetic illustrative data (not a real asset)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3C8"/>
                </a:solidFill>
                <a:latin typeface="Segoe UI"/>
              </a:rPr>
              <a:t>SUGGESTED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A reference architecture to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017520" cy="7498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80744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1 ·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380744"/>
            <a:ext cx="7863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6581"/>
                </a:solidFill>
                <a:latin typeface="Segoe UI"/>
              </a:rPr>
              <a:t>Watch the data room; detect &amp; classify each file (shapefile / workbook / PDF); capture as-of dates &amp; versions.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4884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148840"/>
            <a:ext cx="3017520" cy="7498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203704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2 · Parsing &amp;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03704"/>
            <a:ext cx="7863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6581"/>
                </a:solidFill>
                <a:latin typeface="Segoe UI"/>
              </a:rPr>
              <a:t>Format-specific parsers: GeoPandas for GIS, header-aware readers for Excel, layout/OCR + LLM extraction for PDFs.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7180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971800"/>
            <a:ext cx="3017520" cy="74980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026664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3 · Canonical data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026664"/>
            <a:ext cx="7863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6581"/>
                </a:solidFill>
                <a:latin typeface="Segoe UI"/>
              </a:rPr>
              <a:t>Normalize to shared entities — Asset · Unit · Well · Ownership · Economics · Production — with a well/unit key graph.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794760"/>
            <a:ext cx="3017520" cy="7498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849624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4 · Reconciliation &amp; QA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849624"/>
            <a:ext cx="7863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6581"/>
                </a:solidFill>
                <a:latin typeface="Segoe UI"/>
              </a:rPr>
              <a:t>Cross-check figures across sources, flag conflicts &amp; gaps, and attach provenance to every value.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1772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4617720"/>
            <a:ext cx="3017520" cy="7498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672584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5 · Analytics &amp;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672584"/>
            <a:ext cx="7863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6581"/>
                </a:solidFill>
                <a:latin typeface="Segoe UI"/>
              </a:rPr>
              <a:t>Compute acreage, interests, locations, reserves &amp; value; natural-language Q&amp;A agent over the model.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4068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5440680"/>
            <a:ext cx="3017520" cy="7498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5495544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6 · Report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5495544"/>
            <a:ext cx="7863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6581"/>
                </a:solidFill>
                <a:latin typeface="Segoe UI"/>
              </a:rPr>
              <a:t>Auto-build the deal insight memo (deck / doc) and push to the BD executive, with citations back to source files.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Data Room Intelligence — Microsoft collaboration briefing   ·   </a:t>
            </a:r>
            <a:r>
              <a:rPr sz="800" b="0">
                <a:solidFill>
                  <a:srgbClr val="C8102E"/>
                </a:solidFill>
                <a:latin typeface="Segoe UI"/>
              </a:rPr>
              <a:t>Synthetic illustrative data (not a real asset)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3C8"/>
                </a:solidFill>
                <a:latin typeface="Segoe UI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From data room → FIMU evaluation inputs, seamlessly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8102E"/>
                </a:solidFill>
                <a:latin typeface="Segoe UI"/>
              </a:rPr>
              <a:t>The vision:  </a:t>
            </a:r>
            <a:r>
              <a:rPr sz="1350" b="0">
                <a:solidFill>
                  <a:srgbClr val="102A43"/>
                </a:solidFill>
                <a:latin typeface="Segoe UI"/>
              </a:rPr>
              <a:t>auto-translate every data-room file into clean FIMU inputs so the evaluation framework runs the moment a deal lands — no manual prep.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5486400" cy="41605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2A43"/>
                </a:solidFill>
                <a:latin typeface="Segoe UI"/>
              </a:rPr>
              <a:t>SEAMLESS HAND-OFF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5029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64008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4754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02A43"/>
                </a:solidFill>
                <a:latin typeface="Segoe UI"/>
              </a:rPr>
              <a:t>Normalized model   </a:t>
            </a:r>
            <a:r>
              <a:rPr sz="980" b="0">
                <a:solidFill>
                  <a:srgbClr val="486581"/>
                </a:solidFill>
                <a:latin typeface="Segoe UI"/>
              </a:rPr>
              <a:t>Reconciled Asset · Unit · Well · Ownership · Economics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8036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27D98"/>
                </a:solidFill>
                <a:latin typeface="Segoe UI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90672"/>
            <a:ext cx="5029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090672"/>
            <a:ext cx="64008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118104"/>
            <a:ext cx="4754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02A43"/>
                </a:solidFill>
                <a:latin typeface="Segoe UI"/>
              </a:rPr>
              <a:t>FIMU input adapter   </a:t>
            </a:r>
            <a:r>
              <a:rPr sz="980" b="0">
                <a:solidFill>
                  <a:srgbClr val="486581"/>
                </a:solidFill>
                <a:latin typeface="Segoe UI"/>
              </a:rPr>
              <a:t>Map canonical fields → FIMU's expected schema &amp;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59359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27D98"/>
                </a:solidFill>
                <a:latin typeface="Segoe U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03904"/>
            <a:ext cx="5029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803904"/>
            <a:ext cx="6400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831336"/>
            <a:ext cx="4754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02A43"/>
                </a:solidFill>
                <a:latin typeface="Segoe UI"/>
              </a:rPr>
              <a:t>Validation &amp; units   </a:t>
            </a:r>
            <a:r>
              <a:rPr sz="980" b="0">
                <a:solidFill>
                  <a:srgbClr val="486581"/>
                </a:solidFill>
                <a:latin typeface="Segoe UI"/>
              </a:rPr>
              <a:t>Type/units checks, completeness &amp; range guards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306824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27D98"/>
                </a:solidFill>
                <a:latin typeface="Segoe UI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17136"/>
            <a:ext cx="5029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517136"/>
            <a:ext cx="64008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544568"/>
            <a:ext cx="4754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02A43"/>
                </a:solidFill>
                <a:latin typeface="Segoe UI"/>
              </a:rPr>
              <a:t>Auto-generated FIMU case   </a:t>
            </a:r>
            <a:r>
              <a:rPr sz="980" b="0">
                <a:solidFill>
                  <a:srgbClr val="486581"/>
                </a:solidFill>
                <a:latin typeface="Segoe UI"/>
              </a:rPr>
              <a:t>Write ready-to-run input set (no hand editing)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020056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27D98"/>
                </a:solidFill>
                <a:latin typeface="Segoe UI"/>
              </a:rPr>
              <a:t>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230368"/>
            <a:ext cx="5029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5230368"/>
            <a:ext cx="64008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257800"/>
            <a:ext cx="4754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02A43"/>
                </a:solidFill>
                <a:latin typeface="Segoe UI"/>
              </a:rPr>
              <a:t>Run evaluation framework   </a:t>
            </a:r>
            <a:r>
              <a:rPr sz="980" b="0">
                <a:solidFill>
                  <a:srgbClr val="486581"/>
                </a:solidFill>
                <a:latin typeface="Segoe UI"/>
              </a:rPr>
              <a:t>Kick off FIMU right away; stream results 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828800"/>
            <a:ext cx="5486400" cy="4160520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19385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2A43"/>
                </a:solidFill>
                <a:latin typeface="Segoe UI"/>
              </a:rPr>
              <a:t>WHAT IT UNLOCKS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395728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50" b="1">
                <a:solidFill>
                  <a:srgbClr val="102A43"/>
                </a:solidFill>
                <a:latin typeface="Segoe UI"/>
              </a:rPr>
              <a:t>One-click evaluation.  </a:t>
            </a:r>
            <a:r>
              <a:rPr sz="1250">
                <a:solidFill>
                  <a:srgbClr val="102A43"/>
                </a:solidFill>
                <a:latin typeface="Segoe UI"/>
              </a:rPr>
              <a:t>A new data room becomes a runnable FIMU case with zero manual re-keying.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50" b="1">
                <a:solidFill>
                  <a:srgbClr val="102A43"/>
                </a:solidFill>
                <a:latin typeface="Segoe UI"/>
              </a:rPr>
              <a:t>Consistency &amp; auditability.  </a:t>
            </a:r>
            <a:r>
              <a:rPr sz="1250">
                <a:solidFill>
                  <a:srgbClr val="102A43"/>
                </a:solidFill>
                <a:latin typeface="Segoe UI"/>
              </a:rPr>
              <a:t>Every FIMU input traces back to a source file and as-of date.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50" b="1">
                <a:solidFill>
                  <a:srgbClr val="102A43"/>
                </a:solidFill>
                <a:latin typeface="Segoe UI"/>
              </a:rPr>
              <a:t>Speed to decision.  </a:t>
            </a:r>
            <a:r>
              <a:rPr sz="1250">
                <a:solidFill>
                  <a:srgbClr val="102A43"/>
                </a:solidFill>
                <a:latin typeface="Segoe UI"/>
              </a:rPr>
              <a:t>Screen more targets — go from files to scored results in minutes.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50" b="1">
                <a:solidFill>
                  <a:srgbClr val="102A43"/>
                </a:solidFill>
                <a:latin typeface="Segoe UI"/>
              </a:rPr>
              <a:t>Repeatable at scale.  </a:t>
            </a:r>
            <a:r>
              <a:rPr sz="1250">
                <a:solidFill>
                  <a:srgbClr val="102A43"/>
                </a:solidFill>
                <a:latin typeface="Segoe UI"/>
              </a:rPr>
              <a:t>Same adapter works for every incoming deal and format revision.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50" b="1">
                <a:solidFill>
                  <a:srgbClr val="102A43"/>
                </a:solidFill>
                <a:latin typeface="Segoe UI"/>
              </a:rPr>
              <a:t>Closed loop.  </a:t>
            </a:r>
            <a:r>
              <a:rPr sz="1250">
                <a:solidFill>
                  <a:srgbClr val="102A43"/>
                </a:solidFill>
                <a:latin typeface="Segoe UI"/>
              </a:rPr>
              <a:t>FIMU outputs feed straight back into the consolidated insight report &amp; Q&amp;A agent.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Data Room Intelligence — Microsoft collaboration briefing   ·   </a:t>
            </a:r>
            <a:r>
              <a:rPr sz="800" b="0">
                <a:solidFill>
                  <a:srgbClr val="C8102E"/>
                </a:solidFill>
                <a:latin typeface="Segoe UI"/>
              </a:rPr>
              <a:t>Synthetic illustrative data (not a real asset)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we're asking of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500" b="1">
                <a:solidFill>
                  <a:srgbClr val="FFFFFF"/>
                </a:solidFill>
                <a:latin typeface="Segoe UI"/>
              </a:rPr>
              <a:t>Build the ingestion-to-insight pipeline  </a:t>
            </a:r>
            <a:r>
              <a:rPr sz="1500">
                <a:solidFill>
                  <a:srgbClr val="FFFFFF"/>
                </a:solidFill>
                <a:latin typeface="Segoe UI"/>
              </a:rPr>
              <a:t>that turns a raw, multi-format data room into one reconciled model.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500" b="1">
                <a:solidFill>
                  <a:srgbClr val="FFFFFF"/>
                </a:solidFill>
                <a:latin typeface="Segoe UI"/>
              </a:rPr>
              <a:t>Make it answer the standard deal questions  </a:t>
            </a:r>
            <a:r>
              <a:rPr sz="1500">
                <a:solidFill>
                  <a:srgbClr val="FFFFFF"/>
                </a:solidFill>
                <a:latin typeface="Segoe UI"/>
              </a:rPr>
              <a:t>— net acreage, net locations, WI/NRI, reserves and value — with source citations.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500" b="1">
                <a:solidFill>
                  <a:srgbClr val="FFFFFF"/>
                </a:solidFill>
                <a:latin typeface="Segoe UI"/>
              </a:rPr>
              <a:t>Generate the consolidated report automatically  </a:t>
            </a:r>
            <a:r>
              <a:rPr sz="1500">
                <a:solidFill>
                  <a:srgbClr val="FFFFFF"/>
                </a:solidFill>
                <a:latin typeface="Segoe UI"/>
              </a:rPr>
              <a:t>for every incoming deal, and expose a Q&amp;A agent for ad-hoc questions.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500" b="1">
                <a:solidFill>
                  <a:srgbClr val="FFFFFF"/>
                </a:solidFill>
                <a:latin typeface="Segoe UI"/>
              </a:rPr>
              <a:t>Prove it on this synthetic data room first  </a:t>
            </a:r>
            <a:r>
              <a:rPr sz="1500">
                <a:solidFill>
                  <a:srgbClr val="FFFFFF"/>
                </a:solidFill>
                <a:latin typeface="Segoe UI"/>
              </a:rPr>
              <a:t>then point it at real rooms once validated.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486400"/>
            <a:ext cx="10972800" cy="868680"/>
          </a:xfrm>
          <a:prstGeom prst="round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10424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FB3C8"/>
                </a:solidFill>
                <a:latin typeface="Segoe UI"/>
              </a:rPr>
              <a:t>Next step:  </a:t>
            </a:r>
            <a:r>
              <a:rPr sz="1400" b="0">
                <a:solidFill>
                  <a:srgbClr val="FFFFFF"/>
                </a:solidFill>
                <a:latin typeface="Segoe UI"/>
              </a:rPr>
              <a:t>walk the sample room together → agree the canonical data model → scope a pilot that turns it into FIMU inputs and runs the "net acreage &amp; value" evaluation end-to-end.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3776</Words>
  <Application>Microsoft Office PowerPoint</Application>
  <PresentationFormat>Widescreen</PresentationFormat>
  <Paragraphs>376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Viji Somasundaram</cp:lastModifiedBy>
  <cp:revision>2</cp:revision>
  <dcterms:created xsi:type="dcterms:W3CDTF">2013-01-27T09:14:16Z</dcterms:created>
  <dcterms:modified xsi:type="dcterms:W3CDTF">2026-10-14T20:28:54Z</dcterms:modified>
  <cp:category/>
</cp:coreProperties>
</file>